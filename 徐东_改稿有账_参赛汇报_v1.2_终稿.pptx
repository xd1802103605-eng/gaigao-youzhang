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4182d1e97f4094" /><Relationship Type="http://schemas.openxmlformats.org/officeDocument/2006/relationships/extended-properties" Target="/docProps/app.xml" Id="Rcbdaeef51caf4dd7" /><Relationship Type="http://schemas.openxmlformats.org/officeDocument/2006/relationships/officeDocument" Target="/ppt/presentation.xml" Id="Re9db4510ead44b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e42ba7bc784834"/>
  </p:sldMasterIdLst>
  <p:notesMasterIdLst>
    <p:notesMasterId xmlns:r="http://schemas.openxmlformats.org/officeDocument/2006/relationships" r:id="Rbfd18a3316784ee0"/>
  </p:notesMasterIdLst>
  <p:sldIdLst>
    <p:sldId xmlns:r="http://schemas.openxmlformats.org/officeDocument/2006/relationships" id="256" r:id="R05d34c6ff45342bc"/>
    <p:sldId xmlns:r="http://schemas.openxmlformats.org/officeDocument/2006/relationships" id="257" r:id="R05b196df821f44d2"/>
    <p:sldId xmlns:r="http://schemas.openxmlformats.org/officeDocument/2006/relationships" id="258" r:id="R9847cd33c50042a8"/>
    <p:sldId xmlns:r="http://schemas.openxmlformats.org/officeDocument/2006/relationships" id="259" r:id="R2664257e390c4c39"/>
    <p:sldId xmlns:r="http://schemas.openxmlformats.org/officeDocument/2006/relationships" id="260" r:id="R4e898a7f69ff457f"/>
    <p:sldId xmlns:r="http://schemas.openxmlformats.org/officeDocument/2006/relationships" id="261" r:id="R598b349870384a8a"/>
    <p:sldId xmlns:r="http://schemas.openxmlformats.org/officeDocument/2006/relationships" id="262" r:id="Rd0c7b27b61ce45f0"/>
    <p:sldId xmlns:r="http://schemas.openxmlformats.org/officeDocument/2006/relationships" id="263" r:id="R1782a95d85f847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41fa9330ba4363" /><Relationship Type="http://schemas.openxmlformats.org/officeDocument/2006/relationships/slideMaster" Target="/ppt/slideMasters/slideMaster1.xml" Id="R4be42ba7bc784834" /><Relationship Type="http://schemas.openxmlformats.org/officeDocument/2006/relationships/notesMaster" Target="/ppt/notesMasters/notesMaster1.xml" Id="Rbfd18a3316784ee0" /><Relationship Type="http://schemas.openxmlformats.org/officeDocument/2006/relationships/presProps" Target="/ppt/presProps.xml" Id="R5c37ca77b7da42d4" /><Relationship Type="http://schemas.openxmlformats.org/officeDocument/2006/relationships/tableStyles" Target="/ppt/tableStyles.xml" Id="R90afaa31a3a742aa" /><Relationship Type="http://schemas.openxmlformats.org/officeDocument/2006/relationships/slide" Target="/ppt/slides/slide1.xml" Id="R05d34c6ff45342bc" /><Relationship Type="http://schemas.openxmlformats.org/officeDocument/2006/relationships/slide" Target="/ppt/slides/slide2.xml" Id="R05b196df821f44d2" /><Relationship Type="http://schemas.openxmlformats.org/officeDocument/2006/relationships/slide" Target="/ppt/slides/slide3.xml" Id="R9847cd33c50042a8" /><Relationship Type="http://schemas.openxmlformats.org/officeDocument/2006/relationships/slide" Target="/ppt/slides/slide4.xml" Id="R2664257e390c4c39" /><Relationship Type="http://schemas.openxmlformats.org/officeDocument/2006/relationships/slide" Target="/ppt/slides/slide5.xml" Id="R4e898a7f69ff457f" /><Relationship Type="http://schemas.openxmlformats.org/officeDocument/2006/relationships/slide" Target="/ppt/slides/slide6.xml" Id="R598b349870384a8a" /><Relationship Type="http://schemas.openxmlformats.org/officeDocument/2006/relationships/slide" Target="/ppt/slides/slide7.xml" Id="Rd0c7b27b61ce45f0" /><Relationship Type="http://schemas.openxmlformats.org/officeDocument/2006/relationships/slide" Target="/ppt/slides/slide8.xml" Id="R1782a95d85f847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816175f79c45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改稿有账">
      <a:dk1>
        <a:srgbClr val="171717"/>
      </a:dk1>
      <a:lt1>
        <a:srgbClr val="FFFFFF"/>
      </a:lt1>
      <a:dk2>
        <a:srgbClr val="242321"/>
      </a:dk2>
      <a:lt2>
        <a:srgbClr val="F8F5EE"/>
      </a:lt2>
      <a:accent1>
        <a:srgbClr val="C74A2C"/>
      </a:accent1>
      <a:accent2>
        <a:srgbClr val="596E5D"/>
      </a:accent2>
      <a:accent3>
        <a:srgbClr val="AF792C"/>
      </a:accent3>
      <a:accent4>
        <a:srgbClr val="A65546"/>
      </a:accent4>
      <a:accent5>
        <a:srgbClr val="6C655F"/>
      </a:accent5>
      <a:accent6>
        <a:srgbClr val="A38D70"/>
      </a:accent6>
      <a:hlink>
        <a:srgbClr val="C74A2C"/>
      </a:hlink>
      <a:folHlink>
        <a:srgbClr val="795448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改稿有账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97c2655a6d4b47" /><Relationship Type="http://schemas.openxmlformats.org/officeDocument/2006/relationships/notesMaster" Target="/ppt/notesMasters/notesMaster1.xml" Id="R39798b34f79442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b9137b4a714259" /><Relationship Type="http://schemas.openxmlformats.org/officeDocument/2006/relationships/notesMaster" Target="/ppt/notesMasters/notesMaster1.xml" Id="Rb00f6b88556548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041a38355a4265" /><Relationship Type="http://schemas.openxmlformats.org/officeDocument/2006/relationships/notesMaster" Target="/ppt/notesMasters/notesMaster1.xml" Id="R7c289ec5210848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28ac3622544766" /><Relationship Type="http://schemas.openxmlformats.org/officeDocument/2006/relationships/notesMaster" Target="/ppt/notesMasters/notesMaster1.xml" Id="R291b4c04f13146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8e66ec8fe5474c" /><Relationship Type="http://schemas.openxmlformats.org/officeDocument/2006/relationships/notesMaster" Target="/ppt/notesMasters/notesMaster1.xml" Id="Raf0285275fed40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d7ddac1dc24c1d" /><Relationship Type="http://schemas.openxmlformats.org/officeDocument/2006/relationships/notesMaster" Target="/ppt/notesMasters/notesMaster1.xml" Id="R8e3139e6729543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f5f2c3496e4da4" /><Relationship Type="http://schemas.openxmlformats.org/officeDocument/2006/relationships/notesMaster" Target="/ppt/notesMasters/notesMaster1.xml" Id="R205d200fef1e47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6f093800504803" /><Relationship Type="http://schemas.openxmlformats.org/officeDocument/2006/relationships/notesMaster" Target="/ppt/notesMasters/notesMaster1.xml" Id="Rabb0ac2af72242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大家好，我的作品是《改稿有账》，面向一个人承接海报订单的设计师。它帮助整理已确认的需求，再检查后续聊天产生了哪些变化。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当前所有订单例子都是合成数据。参赛者徐东，个人参赛。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赛道方向参考：https://wuhan.uoyc.com/1024/hackathon/ 。具体资格、日程和提交要求以主办方最新公告为准。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这里是一段合成订单。原先只约定一张开业海报，后来客户询问能否增加公众号横图并提前交付。设计师需要先确认新增交付的尺寸、具体交期和是否接受，再与客户沟通。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这只是待验证的问题假设。作品目前没有真实用户研究结果，不据此宣称痛点发生频率或付费意愿。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用户先粘贴初始聊天。系统提取交付物、尺寸、数量、交期和修改轮次，缺少内容保持待确认。用户核对和补齐后保存需求版本，后续消息才有明确的比较起点。模型的提取结果仍需要人检查。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截图来源：本项目本地运行界面，使用合成聊天。截图仅展示当前实现，不是用户研究证据。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新消息与当前确认的需求版本比较，每条候选变化旁边都有对应原话。客户的“能不能”仍然是询问，由设计师决定接受、赠送、追问或拒绝。尚未处理的请求不应自动进入确认记录。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截图来源：本项目本地运行界面，使用合成聊天。费用按用户自设规则计算，不代表客户已接受。相对日期缺少依据时须保留原话并追问。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 AI 模式让模型提出需求和变化候选，程序处理版本留存、价目表计算和导出，设计师核对原文并作出业务决定。费用来自设计师自己的价格规则。程序不能验证业务事实本身，也不能代表双方接受费用或交期。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规则演示采用本地规则，不调用模型。真实 AI 接口由用户配置，当前没有真实密钥验证结果。项目记录在浏览器，密钥只在页面内存，服务端不持久化保存。请求会经本地服务发送到用户配置的模型服务，使用时应先取得资料许可、完成脱敏并核对服务商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用聊天工具可以整理文本。本作品把已确认版本、原文证据、人工决定和导出放在持续订单流程里。用户可以导出当前交付清单和沟通文字，下一次收到消息时继续对照当前版本。是否比手工和通用提示词更省时，需要用实际任务检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截图来源：本项目本地运行界面，使用合成案例。相比单次聊天摘要，本作品把版本、原文与人工决定串成持续订单流程。实际效率优势仍须对比评测，导出清单不承诺法律效力。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这里区分开发检查和实际用户效果。已执行检查只能证明对应场景下的程序行为，不能证明市场需求、所有模型效果或真实用户效率。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50 项核心与接口检查、68 项浏览器检查、10 项离线检查均通过；合计 128 项。模型接口使用模拟响应，未实测真实模型。 覆盖多新增交付关联、逐项报价、赠送与收费独立、未报价阻止保存、旧响应丢弃、分析来源、连接状态、数值引用完整匹配、版本历史和导入导出。所有案例为合成，检查数量不是用户样本数、准确率或真实订单成功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当前真实模型连通与效果尚未实测。真实设计师访谈、同任务三方法对比、付费意愿验证尚未完成。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评测计划将比较手工整理、通用提示词和本作品的漏项、误报、承诺误判、原文证据错误、总用时与人工修订次数。规则演示与真实 AI 分开统计。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会邀请有独立接单经历的设计师，使用获许可、脱敏的历史订单，比较手工、通用提示词和本作品的漏项、误报和总用时，再记录检查修订与继续使用意愿。持续接单者是否愿意为需求记录工具付费仍是商业假设，目前没有付费意愿或收入数据。后续扩展和收费方式应根据真实反馈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参赛方向参考：https://wuhan.uoyc.com/1024/hackathon/ 。官方日程：https://wuhan.uoyc.com/1024/schedule/ 。资格、时间及提交要求以主办方最新公告为准。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6f3cde77a3403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d999c3c754d7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0fe6bb41c746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4b1467485746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7e075dc4ed4b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d7f671d3bc42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89A1EC-4ECC-409E-A48D-B3EB8DEAE1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6CE1729-8BF9-4427-90B8-9EED24E866E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C686540-8713-4A73-BDB3-422C8D643A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715E0D-C8D7-408D-9B72-7D3C885424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DF0EBBA-1F11-4902-85AF-1733FA7D16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C041B3-6142-4D20-A0E9-0F7B92D64B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B32EA6-CC0D-454A-9DF2-828E3ADD7B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172F23F-D8BF-4BBB-9435-B619121EBAA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436EB5-0A72-450E-8684-76B00EDCAB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21FFA3-EE61-4E9B-A9D3-F7F4BC402F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a55a9568a240ab" /><Relationship Type="http://schemas.openxmlformats.org/officeDocument/2006/relationships/slideLayout" Target="/ppt/slideLayouts/slideLayout1.xml" Id="Re4eecb71ea414020" /><Relationship Type="http://schemas.openxmlformats.org/officeDocument/2006/relationships/slideLayout" Target="/ppt/slideLayouts/slideLayout2.xml" Id="R9041f45e4b8a4ce4" /><Relationship Type="http://schemas.openxmlformats.org/officeDocument/2006/relationships/slideLayout" Target="/ppt/slideLayouts/slideLayout3.xml" Id="R034169e2dd6d48ba" /><Relationship Type="http://schemas.openxmlformats.org/officeDocument/2006/relationships/slideLayout" Target="/ppt/slideLayouts/slideLayout4.xml" Id="R392719120fd94b78" /><Relationship Type="http://schemas.openxmlformats.org/officeDocument/2006/relationships/slideLayout" Target="/ppt/slideLayouts/slideLayout5.xml" Id="R0790f9686f654b30" /><Relationship Type="http://schemas.openxmlformats.org/officeDocument/2006/relationships/slideLayout" Target="/ppt/slideLayouts/slideLayout6.xml" Id="Ra9d6d9ba5d3f46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eecb71ea414020"/>
    <p:sldLayoutId xmlns:r="http://schemas.openxmlformats.org/officeDocument/2006/relationships" id="2147483650" r:id="R9041f45e4b8a4ce4"/>
    <p:sldLayoutId xmlns:r="http://schemas.openxmlformats.org/officeDocument/2006/relationships" id="2147483651" r:id="R034169e2dd6d48ba"/>
    <p:sldLayoutId xmlns:r="http://schemas.openxmlformats.org/officeDocument/2006/relationships" id="2147483652" r:id="R392719120fd94b78"/>
    <p:sldLayoutId xmlns:r="http://schemas.openxmlformats.org/officeDocument/2006/relationships" id="2147483653" r:id="R0790f9686f654b30"/>
    <p:sldLayoutId xmlns:r="http://schemas.openxmlformats.org/officeDocument/2006/relationships" id="2147483654" r:id="Ra9d6d9ba5d3f46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改稿有账">
      <a:dk1>
        <a:srgbClr val="171717"/>
      </a:dk1>
      <a:lt1>
        <a:srgbClr val="FFFFFF"/>
      </a:lt1>
      <a:dk2>
        <a:srgbClr val="242321"/>
      </a:dk2>
      <a:lt2>
        <a:srgbClr val="F8F5EE"/>
      </a:lt2>
      <a:accent1>
        <a:srgbClr val="C74A2C"/>
      </a:accent1>
      <a:accent2>
        <a:srgbClr val="596E5D"/>
      </a:accent2>
      <a:accent3>
        <a:srgbClr val="AF792C"/>
      </a:accent3>
      <a:accent4>
        <a:srgbClr val="A65546"/>
      </a:accent4>
      <a:accent5>
        <a:srgbClr val="6C655F"/>
      </a:accent5>
      <a:accent6>
        <a:srgbClr val="A38D70"/>
      </a:accent6>
      <a:hlink>
        <a:srgbClr val="C74A2C"/>
      </a:hlink>
      <a:folHlink>
        <a:srgbClr val="795448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改稿有账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895b531a6c4fff" /><Relationship Type="http://schemas.openxmlformats.org/officeDocument/2006/relationships/notesSlide" Target="/ppt/notesSlides/notesSlide1.xml" Id="R5936097eba1641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cead3fb2db46c0" /><Relationship Type="http://schemas.openxmlformats.org/officeDocument/2006/relationships/notesSlide" Target="/ppt/notesSlides/notesSlide2.xml" Id="R7915a7547cf14f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32d180f19b4e8a" /><Relationship Type="http://schemas.openxmlformats.org/officeDocument/2006/relationships/image" Target="/ppt/media/image.png" Id="R5b96748ff651420e" /><Relationship Type="http://schemas.openxmlformats.org/officeDocument/2006/relationships/notesSlide" Target="/ppt/notesSlides/notesSlide3.xml" Id="R730e07e70b5741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e1d34b268d470c" /><Relationship Type="http://schemas.openxmlformats.org/officeDocument/2006/relationships/image" Target="/ppt/media/image2.png" Id="Rd4f0798b4cbe4217" /><Relationship Type="http://schemas.openxmlformats.org/officeDocument/2006/relationships/notesSlide" Target="/ppt/notesSlides/notesSlide4.xml" Id="Rbbc03baf10124d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76656d83b44486" /><Relationship Type="http://schemas.openxmlformats.org/officeDocument/2006/relationships/notesSlide" Target="/ppt/notesSlides/notesSlide5.xml" Id="Raf4432e829ef4b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449760d60c4eeb" /><Relationship Type="http://schemas.openxmlformats.org/officeDocument/2006/relationships/image" Target="/ppt/media/image3.png" Id="R73c2e4c740554ffa" /><Relationship Type="http://schemas.openxmlformats.org/officeDocument/2006/relationships/notesSlide" Target="/ppt/notesSlides/notesSlide6.xml" Id="R38a1d3421fe94e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c9065099434f74" /><Relationship Type="http://schemas.openxmlformats.org/officeDocument/2006/relationships/notesSlide" Target="/ppt/notesSlides/notesSlide7.xml" Id="Rd9923b76678b4a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78699fdd1548f2" /><Relationship Type="http://schemas.openxmlformats.org/officeDocument/2006/relationships/notesSlide" Target="/ppt/notesSlides/notesSlide8.xml" Id="R5536140cc1344a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OPC个人创新赛道">
            <a:extLst xmlns:a="http://schemas.openxmlformats.org/drawingml/2006/main">
              <a:ext uri="{FF2B5EF4-FFF2-40B4-BE49-F238E27FC236}">
                <a16:creationId xmlns:a16="http://schemas.microsoft.com/office/drawing/2014/main" id="{C41E0A68-F190-42C7-B9E1-1BE084D9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rPr>
              <a:t>OPC 个人创新赛道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75D7998-4E93-4BF2-B0A9-33EB0F0C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108585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6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改稿</a:t>
            </a:r>
            <a:r>
              <a:rPr sz="6600" b="1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rPr>
              <a:t>有账</a:t>
            </a:r>
          </a:p>
        </p:txBody>
      </p:sp>
      <p:sp>
        <p:nvSpPr>
          <p:cNvPr id="3" name="独立设计师的需求变更助手">
            <a:extLst xmlns:a="http://schemas.openxmlformats.org/drawingml/2006/main">
              <a:ext uri="{FF2B5EF4-FFF2-40B4-BE49-F238E27FC236}">
                <a16:creationId xmlns:a16="http://schemas.microsoft.com/office/drawing/2014/main" id="{B34FA985-5D9F-4624-AFFE-0C5AFC87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独立设计师的需求变更助手</a:t>
            </a:r>
          </a:p>
        </p:txBody>
      </p:sp>
      <p:sp>
        <p:nvSpPr>
          <p:cNvPr id="4" name="每次追加，都能找到原话和确认记录">
            <a:extLst xmlns:a="http://schemas.openxmlformats.org/drawingml/2006/main">
              <a:ext uri="{FF2B5EF4-FFF2-40B4-BE49-F238E27FC236}">
                <a16:creationId xmlns:a16="http://schemas.microsoft.com/office/drawing/2014/main" id="{BB010813-A4C1-4BE2-A653-18D3030A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每次追加，都能找到原话和确认记录</a:t>
            </a:r>
          </a:p>
        </p:txBody>
      </p:sp>
      <p:sp>
        <p:nvSpPr>
          <p:cNvPr id="5" name="参赛者：徐东">
            <a:extLst xmlns:a="http://schemas.openxmlformats.org/drawingml/2006/main">
              <a:ext uri="{FF2B5EF4-FFF2-40B4-BE49-F238E27FC236}">
                <a16:creationId xmlns:a16="http://schemas.microsoft.com/office/drawing/2014/main" id="{BA5024C5-9A10-49E0-AD8F-C3E2AC3F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参赛者：徐东</a:t>
            </a:r>
          </a:p>
        </p:txBody>
      </p:sp>
    </p:spTree>
    <p:extLst>
      <p:ext uri="{BB962C8B-B14F-4D97-AF65-F5344CB8AC3E}">
        <p14:creationId xmlns:p14="http://schemas.microsoft.com/office/powerpoint/2010/main" val="20581748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2">
            <a:extLst xmlns:a="http://schemas.openxmlformats.org/drawingml/2006/main">
              <a:ext uri="{FF2B5EF4-FFF2-40B4-BE49-F238E27FC236}">
                <a16:creationId xmlns:a16="http://schemas.microsoft.com/office/drawing/2014/main" id="{0EB906F5-FC35-4BD2-9643-4501C2FF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客户追加需求时，原约定容易混在聊天里</a:t>
            </a:r>
          </a:p>
        </p:txBody>
      </p:sp>
      <p:sp>
        <p:nvSpPr>
          <p:cNvPr id="2" name="takeaway-2">
            <a:extLst xmlns:a="http://schemas.openxmlformats.org/drawingml/2006/main">
              <a:ext uri="{FF2B5EF4-FFF2-40B4-BE49-F238E27FC236}">
                <a16:creationId xmlns:a16="http://schemas.microsoft.com/office/drawing/2014/main" id="{3F9AE590-C68C-4A99-BD95-11446A76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78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独立设计师同时负责沟通、排期和设计交付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0EBC83C2-1D15-4090-A779-95E63BBD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14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02/08</a:t>
            </a:r>
          </a:p>
        </p:txBody>
      </p:sp>
      <p:sp>
        <p:nvSpPr>
          <p:cNvPr id="4" name="合成聊天例子">
            <a:extLst xmlns:a="http://schemas.openxmlformats.org/drawingml/2006/main">
              <a:ext uri="{FF2B5EF4-FFF2-40B4-BE49-F238E27FC236}">
                <a16:creationId xmlns:a16="http://schemas.microsoft.com/office/drawing/2014/main" id="{37EA3704-79EA-46BE-A703-B6A59FB9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合成聊天例子</a:t>
            </a:r>
          </a:p>
        </p:txBody>
      </p:sp>
      <p:sp>
        <p:nvSpPr>
          <p:cNvPr id="5" name="“顺便再加个公众号横图，明晚给我，可以吗？”">
            <a:extLst xmlns:a="http://schemas.openxmlformats.org/drawingml/2006/main">
              <a:ext uri="{FF2B5EF4-FFF2-40B4-BE49-F238E27FC236}">
                <a16:creationId xmlns:a16="http://schemas.microsoft.com/office/drawing/2014/main" id="{71D1E93F-9287-4E9E-9F63-2A7A5BCD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08394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3600" b="1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rPr>
              <a:t>“顺便再加个公众号横图，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3600" b="1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rPr>
              <a:t>明晚给我，可以吗？”</a:t>
            </a:r>
          </a:p>
        </p:txBody>
      </p:sp>
      <p:sp>
        <p:nvSpPr>
          <p:cNvPr id="6" name="原约定：一张开业海报，周五交付，含两轮修改">
            <a:extLst xmlns:a="http://schemas.openxmlformats.org/drawingml/2006/main">
              <a:ext uri="{FF2B5EF4-FFF2-40B4-BE49-F238E27FC236}">
                <a16:creationId xmlns:a16="http://schemas.microsoft.com/office/drawing/2014/main" id="{C54B776B-0FFF-4A5E-BA8A-EB0CC1D5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10620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原约定：一张开业海报，周五交付，含两轮修改</a:t>
            </a:r>
          </a:p>
        </p:txBody>
      </p:sp>
      <p:sp>
        <p:nvSpPr>
          <p:cNvPr id="7" name="需要核对：是否新增交付、缺少什么尺寸、具体哪天交付">
            <a:extLst xmlns:a="http://schemas.openxmlformats.org/drawingml/2006/main">
              <a:ext uri="{FF2B5EF4-FFF2-40B4-BE49-F238E27FC236}">
                <a16:creationId xmlns:a16="http://schemas.microsoft.com/office/drawing/2014/main" id="{40B51393-7A29-4A4A-AEB9-D953FCB1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62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需要核对：是否新增交付、缺少什么尺寸、具体哪天交付</a:t>
            </a:r>
          </a:p>
        </p:txBody>
      </p:sp>
      <p:sp>
        <p:nvSpPr>
          <p:cNvPr id="8" name="客户提出请求后，设计师仍需明确接受或继续追问">
            <a:extLst xmlns:a="http://schemas.openxmlformats.org/drawingml/2006/main">
              <a:ext uri="{FF2B5EF4-FFF2-40B4-BE49-F238E27FC236}">
                <a16:creationId xmlns:a16="http://schemas.microsoft.com/office/drawing/2014/main" id="{752886F9-898F-4C10-94FE-4EEAD338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14975"/>
            <a:ext cx="1062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客户提出请求后，设计师仍需明确接受或继续追问</a:t>
            </a:r>
          </a:p>
        </p:txBody>
      </p:sp>
    </p:spTree>
    <p:extLst>
      <p:ext uri="{BB962C8B-B14F-4D97-AF65-F5344CB8AC3E}">
        <p14:creationId xmlns:p14="http://schemas.microsoft.com/office/powerpoint/2010/main" val="12605950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3">
            <a:extLst xmlns:a="http://schemas.openxmlformats.org/drawingml/2006/main">
              <a:ext uri="{FF2B5EF4-FFF2-40B4-BE49-F238E27FC236}">
                <a16:creationId xmlns:a16="http://schemas.microsoft.com/office/drawing/2014/main" id="{F00A3397-A4A2-4C19-A5F3-C6A11DD4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已确认的需求版本</a:t>
            </a:r>
          </a:p>
        </p:txBody>
      </p:sp>
      <p:sp>
        <p:nvSpPr>
          <p:cNvPr id="2" name="takeaway-3">
            <a:extLst xmlns:a="http://schemas.openxmlformats.org/drawingml/2006/main">
              <a:ext uri="{FF2B5EF4-FFF2-40B4-BE49-F238E27FC236}">
                <a16:creationId xmlns:a16="http://schemas.microsoft.com/office/drawing/2014/main" id="{D485D43B-8EC3-4C4F-B50A-04E32633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78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用户检查后保存，作为后续比较的起点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E2E2BA8A-74A0-4B29-A2DA-95BEC0D2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14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03/08</a:t>
            </a:r>
          </a:p>
        </p:txBody>
      </p:sp>
      <p:sp>
        <p:nvSpPr>
          <p:cNvPr id="4" name="01整理聊天">
            <a:extLst xmlns:a="http://schemas.openxmlformats.org/drawingml/2006/main">
              <a:ext uri="{FF2B5EF4-FFF2-40B4-BE49-F238E27FC236}">
                <a16:creationId xmlns:a16="http://schemas.microsoft.com/office/drawing/2014/main" id="{B6D36D30-9DC1-4A5E-9573-9EA77EAB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01  整理聊天</a:t>
            </a:r>
          </a:p>
        </p:txBody>
      </p:sp>
      <p:sp>
        <p:nvSpPr>
          <p:cNvPr id="5" name="提取交付物、尺寸、交期和修改轮次">
            <a:extLst xmlns:a="http://schemas.openxmlformats.org/drawingml/2006/main">
              <a:ext uri="{FF2B5EF4-FFF2-40B4-BE49-F238E27FC236}">
                <a16:creationId xmlns:a16="http://schemas.microsoft.com/office/drawing/2014/main" id="{EC0137AD-D716-4F93-94DF-784C4B67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76525"/>
            <a:ext cx="312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提取交付物、尺寸、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交期和修改轮次</a:t>
            </a:r>
          </a:p>
        </p:txBody>
      </p:sp>
      <p:sp>
        <p:nvSpPr>
          <p:cNvPr id="6" name="02人工检查">
            <a:extLst xmlns:a="http://schemas.openxmlformats.org/drawingml/2006/main">
              <a:ext uri="{FF2B5EF4-FFF2-40B4-BE49-F238E27FC236}">
                <a16:creationId xmlns:a16="http://schemas.microsoft.com/office/drawing/2014/main" id="{6EF47E8E-3E83-4471-B00A-2C99CF22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24275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02  人工检查</a:t>
            </a:r>
          </a:p>
        </p:txBody>
      </p:sp>
      <p:sp>
        <p:nvSpPr>
          <p:cNvPr id="7" name="补齐缺失信息，不明确的内容待确认">
            <a:extLst xmlns:a="http://schemas.openxmlformats.org/drawingml/2006/main">
              <a:ext uri="{FF2B5EF4-FFF2-40B4-BE49-F238E27FC236}">
                <a16:creationId xmlns:a16="http://schemas.microsoft.com/office/drawing/2014/main" id="{353D5509-177A-4694-80FD-3E15B524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312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补齐缺失信息，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不明确的内容待确认</a:t>
            </a:r>
          </a:p>
        </p:txBody>
      </p:sp>
      <p:sp>
        <p:nvSpPr>
          <p:cNvPr id="8" name="03保存版本">
            <a:extLst xmlns:a="http://schemas.openxmlformats.org/drawingml/2006/main">
              <a:ext uri="{FF2B5EF4-FFF2-40B4-BE49-F238E27FC236}">
                <a16:creationId xmlns:a16="http://schemas.microsoft.com/office/drawing/2014/main" id="{0694F086-9671-4BFC-926A-32F218FE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rPr>
              <a:t>03  保存版本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D4818-0A2C-44C2-81EE-31008E7C70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6748ff651420e"/>
          <a:srcRect xmlns:a="http://schemas.openxmlformats.org/drawingml/2006/main" l="26500" t="28500" r="11500" b="13000"/>
          <a:stretch xmlns:a="http://schemas.openxmlformats.org/drawingml/2006/main"/>
        </p:blipFill>
        <p:spPr>
          <a:xfrm xmlns:a="http://schemas.openxmlformats.org/drawingml/2006/main">
            <a:off x="4000500" y="1924050"/>
            <a:ext cx="7505700" cy="4095750"/>
          </a:xfrm>
          <a:prstGeom xmlns:a="http://schemas.openxmlformats.org/drawingml/2006/main" prst="rect">
            <a:avLst/>
          </a:prstGeom>
        </p:spPr>
      </p:pic>
      <p:sp>
        <p:nvSpPr>
          <p:cNvPr id="10" name="规则演示界面，使用合成案例">
            <a:extLst xmlns:a="http://schemas.openxmlformats.org/drawingml/2006/main">
              <a:ext uri="{FF2B5EF4-FFF2-40B4-BE49-F238E27FC236}">
                <a16:creationId xmlns:a16="http://schemas.microsoft.com/office/drawing/2014/main" id="{A23C1371-20B1-42B5-B449-84C74D4A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076950"/>
            <a:ext cx="6381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规则演示界面，使用合成案例</a:t>
            </a:r>
          </a:p>
        </p:txBody>
      </p:sp>
    </p:spTree>
    <p:extLst>
      <p:ext uri="{BB962C8B-B14F-4D97-AF65-F5344CB8AC3E}">
        <p14:creationId xmlns:p14="http://schemas.microsoft.com/office/powerpoint/2010/main" val="8001086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7520969D-6013-4681-B732-F0C16C90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候选变化与对应原话</a:t>
            </a:r>
          </a:p>
        </p:txBody>
      </p:sp>
      <p:sp>
        <p:nvSpPr>
          <p:cNvPr id="2" name="takeaway-4">
            <a:extLst xmlns:a="http://schemas.openxmlformats.org/drawingml/2006/main">
              <a:ext uri="{FF2B5EF4-FFF2-40B4-BE49-F238E27FC236}">
                <a16:creationId xmlns:a16="http://schemas.microsoft.com/office/drawing/2014/main" id="{96ABBA05-F309-4894-B557-7E9115D4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78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询问先保留，设计师决定接受、赠送、追问或拒绝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3FCA209B-640F-4A38-A466-7B136ADA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14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04/08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4C9D5-67C4-4985-8931-2711CD6E7A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0798b4cbe4217"/>
          <a:srcRect xmlns:a="http://schemas.openxmlformats.org/drawingml/2006/main" l="49000" t="34500" r="3000" b="29000"/>
          <a:stretch xmlns:a="http://schemas.openxmlformats.org/drawingml/2006/main"/>
        </p:blipFill>
        <p:spPr>
          <a:xfrm xmlns:a="http://schemas.openxmlformats.org/drawingml/2006/main">
            <a:off x="685800" y="1809750"/>
            <a:ext cx="1082040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规则演示，用户确认后再更新交付记录">
            <a:extLst xmlns:a="http://schemas.openxmlformats.org/drawingml/2006/main">
              <a:ext uri="{FF2B5EF4-FFF2-40B4-BE49-F238E27FC236}">
                <a16:creationId xmlns:a16="http://schemas.microsoft.com/office/drawing/2014/main" id="{DE1B68A4-6DA2-48D8-89BB-2ADA1A00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67425"/>
            <a:ext cx="966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rPr>
              <a:t>规则演示，用户确认后再更新交付记录</a:t>
            </a:r>
          </a:p>
        </p:txBody>
      </p:sp>
    </p:spTree>
    <p:extLst>
      <p:ext uri="{BB962C8B-B14F-4D97-AF65-F5344CB8AC3E}">
        <p14:creationId xmlns:p14="http://schemas.microsoft.com/office/powerpoint/2010/main" val="2184683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5">
            <a:extLst xmlns:a="http://schemas.openxmlformats.org/drawingml/2006/main">
              <a:ext uri="{FF2B5EF4-FFF2-40B4-BE49-F238E27FC236}">
                <a16:creationId xmlns:a16="http://schemas.microsoft.com/office/drawing/2014/main" id="{64B4A466-2825-4BAF-BFD6-1B60E941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模型、程序与设计师的分工</a:t>
            </a:r>
          </a:p>
        </p:txBody>
      </p:sp>
      <p:sp>
        <p:nvSpPr>
          <p:cNvPr id="2" name="takeaway-5">
            <a:extLst xmlns:a="http://schemas.openxmlformats.org/drawingml/2006/main">
              <a:ext uri="{FF2B5EF4-FFF2-40B4-BE49-F238E27FC236}">
                <a16:creationId xmlns:a16="http://schemas.microsoft.com/office/drawing/2014/main" id="{A2CBB8CA-A13A-45A7-B443-62EC127E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78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语言理解提供候选，业务决定保留给使用者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EA4F83AC-4AC1-44A7-8C67-5946CF2B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14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05/08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B78C0-C05C-4735-8768-A9A9E185BE39}"/>
              </a:ext>
            </a:extLst>
          </p:cNvPr>
          <p:cNvGraphicFramePr/>
          <p:nvPr/>
        </p:nvGraphicFramePr>
        <p:xfrm>
          <a:off xmlns:a="http://schemas.openxmlformats.org/drawingml/2006/main" x="704850" y="2038350"/>
          <a:ext xmlns:a="http://schemas.openxmlformats.org/drawingml/2006/main" cx="10782300" cy="3086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24000"/>
                <a:gridCol w="4629150"/>
                <a:gridCol w="4629150"/>
              </a:tblGrid>
              <a:tr h="6572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8F5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171450" marR="171450" marT="142875" marB="114300" anchor="ctr">
                    <a:lnL w="9525">
                      <a:solidFill>
                        <a:srgbClr val="DED8CD"/>
                      </a:solidFill>
                      <a:prstDash val="solid"/>
                    </a:lnL>
                    <a:lnR w="9525">
                      <a:solidFill>
                        <a:srgbClr val="DED8CD"/>
                      </a:solidFill>
                      <a:prstDash val="solid"/>
                    </a:lnR>
                    <a:lnT w="9525">
                      <a:solidFill>
                        <a:srgbClr val="DED8CD"/>
                      </a:solidFill>
                      <a:prstDash val="solid"/>
                    </a:lnT>
                    <a:lnB w="9525">
                      <a:solidFill>
                        <a:srgbClr val="DED8CD"/>
                      </a:solidFill>
                      <a:prstDash val="solid"/>
                    </a:lnB>
                    <a:solidFill>
                      <a:srgbClr val="242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8F5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负责的内容</a:t>
                      </a:r>
                    </a:p>
                  </a:txBody>
                  <a:tcPr marL="171450" marR="171450" marT="142875" marB="114300" anchor="ctr">
                    <a:lnR w="9525">
                      <a:solidFill>
                        <a:srgbClr val="DED8CD"/>
                      </a:solidFill>
                      <a:prstDash val="solid"/>
                    </a:lnR>
                    <a:lnT w="9525">
                      <a:solidFill>
                        <a:srgbClr val="DED8CD"/>
                      </a:solidFill>
                      <a:prstDash val="solid"/>
                    </a:lnT>
                    <a:lnB w="9525">
                      <a:solidFill>
                        <a:srgbClr val="DED8CD"/>
                      </a:solidFill>
                      <a:prstDash val="solid"/>
                    </a:lnB>
                    <a:solidFill>
                      <a:srgbClr val="242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8F5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确认边界</a:t>
                      </a:r>
                    </a:p>
                  </a:txBody>
                  <a:tcPr marL="171450" marR="171450" marT="142875" marB="114300" anchor="ctr">
                    <a:lnR w="9525">
                      <a:solidFill>
                        <a:srgbClr val="DED8CD"/>
                      </a:solidFill>
                      <a:prstDash val="solid"/>
                    </a:lnR>
                    <a:lnT w="9525">
                      <a:solidFill>
                        <a:srgbClr val="DED8CD"/>
                      </a:solidFill>
                      <a:prstDash val="solid"/>
                    </a:lnT>
                    <a:lnB w="9525">
                      <a:solidFill>
                        <a:srgbClr val="DED8CD"/>
                      </a:solidFill>
                      <a:prstDash val="solid"/>
                    </a:lnB>
                    <a:solidFill>
                      <a:srgbClr val="242321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C74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171450" marR="171450" marT="142875" marB="114300" anchor="ctr">
                    <a:lnL w="9525">
                      <a:solidFill>
                        <a:srgbClr val="DED8CD"/>
                      </a:solidFill>
                      <a:prstDash val="solid"/>
                    </a:lnL>
                    <a:lnR w="9525">
                      <a:solidFill>
                        <a:srgbClr val="DED8CD"/>
                      </a:solidFill>
                      <a:prstDash val="solid"/>
                    </a:lnR>
                    <a:lnB w="9525">
                      <a:solidFill>
                        <a:srgbClr val="DED8CD"/>
                      </a:solidFill>
                      <a:prstDash val="soli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423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整理需求和变化候选</a:t>
                      </a:r>
                    </a:p>
                  </a:txBody>
                  <a:tcPr marL="171450" marR="171450" marT="142875" marB="114300" anchor="ctr">
                    <a:lnR w="9525">
                      <a:solidFill>
                        <a:srgbClr val="DED8CD"/>
                      </a:solidFill>
                      <a:prstDash val="solid"/>
                    </a:lnR>
                    <a:lnB w="9525">
                      <a:solidFill>
                        <a:srgbClr val="DED8CD"/>
                      </a:solidFill>
                      <a:prstDash val="soli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423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原话用于核对判断依据</a:t>
                      </a:r>
                    </a:p>
                  </a:txBody>
                  <a:tcPr marL="171450" marR="171450" marT="142875" marB="114300" anchor="ctr">
                    <a:lnR w="9525">
                      <a:solidFill>
                        <a:srgbClr val="DED8CD"/>
                      </a:solidFill>
                      <a:prstDash val="solid"/>
                    </a:lnR>
                    <a:lnB w="9525">
                      <a:solidFill>
                        <a:srgbClr val="DED8CD"/>
                      </a:solidFill>
                      <a:prstDash val="solid"/>
                    </a:lnB>
                    <a:solidFill>
                      <a:srgbClr val="F8F5EE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C74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程序</a:t>
                      </a:r>
                    </a:p>
                  </a:txBody>
                  <a:tcPr marL="171450" marR="171450" marT="142875" marB="114300" anchor="ctr">
                    <a:lnL w="9525">
                      <a:solidFill>
                        <a:srgbClr val="DED8CD"/>
                      </a:solidFill>
                      <a:prstDash val="solid"/>
                    </a:lnL>
                    <a:lnR w="9525">
                      <a:solidFill>
                        <a:srgbClr val="DED8CD"/>
                      </a:solidFill>
                      <a:prstDash val="solid"/>
                    </a:lnR>
                    <a:lnB w="9525">
                      <a:solidFill>
                        <a:srgbClr val="DED8CD"/>
                      </a:solidFill>
                      <a:prstDash val="soli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423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保存版本、规则算价和导出</a:t>
                      </a:r>
                    </a:p>
                  </a:txBody>
                  <a:tcPr marL="171450" marR="171450" marT="142875" marB="114300" anchor="ctr">
                    <a:lnR w="9525">
                      <a:solidFill>
                        <a:srgbClr val="DED8CD"/>
                      </a:solidFill>
                      <a:prstDash val="solid"/>
                    </a:lnR>
                    <a:lnB w="9525">
                      <a:solidFill>
                        <a:srgbClr val="DED8CD"/>
                      </a:solidFill>
                      <a:prstDash val="soli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423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不替双方承诺费用与交期</a:t>
                      </a:r>
                    </a:p>
                  </a:txBody>
                  <a:tcPr marL="171450" marR="171450" marT="142875" marB="114300" anchor="ctr">
                    <a:lnR w="9525">
                      <a:solidFill>
                        <a:srgbClr val="DED8CD"/>
                      </a:solidFill>
                      <a:prstDash val="solid"/>
                    </a:lnR>
                    <a:lnB w="9525">
                      <a:solidFill>
                        <a:srgbClr val="DED8CD"/>
                      </a:solidFill>
                      <a:prstDash val="solid"/>
                    </a:lnB>
                    <a:solidFill>
                      <a:srgbClr val="F8F5EE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C74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设计师</a:t>
                      </a:r>
                    </a:p>
                  </a:txBody>
                  <a:tcPr marL="171450" marR="171450" marT="142875" marB="114300" anchor="ctr">
                    <a:lnL w="9525">
                      <a:solidFill>
                        <a:srgbClr val="DED8CD"/>
                      </a:solidFill>
                      <a:prstDash val="solid"/>
                    </a:lnL>
                    <a:lnR w="9525">
                      <a:solidFill>
                        <a:srgbClr val="DED8CD"/>
                      </a:solidFill>
                      <a:prstDash val="solid"/>
                    </a:lnR>
                    <a:lnB w="9525">
                      <a:solidFill>
                        <a:srgbClr val="DED8CD"/>
                      </a:solidFill>
                      <a:prstDash val="soli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423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核对原文并处理每条变化</a:t>
                      </a:r>
                    </a:p>
                  </a:txBody>
                  <a:tcPr marL="171450" marR="171450" marT="142875" marB="114300" anchor="ctr">
                    <a:lnR w="9525">
                      <a:solidFill>
                        <a:srgbClr val="DED8CD"/>
                      </a:solidFill>
                      <a:prstDash val="solid"/>
                    </a:lnR>
                    <a:lnB w="9525">
                      <a:solidFill>
                        <a:srgbClr val="DED8CD"/>
                      </a:solidFill>
                      <a:prstDash val="solid"/>
                    </a:lnB>
                    <a:solidFill>
                      <a:srgbClr val="F8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4232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接受、赠送、追问或拒绝</a:t>
                      </a:r>
                    </a:p>
                  </a:txBody>
                  <a:tcPr marL="171450" marR="171450" marT="142875" marB="114300" anchor="ctr">
                    <a:lnR w="9525">
                      <a:solidFill>
                        <a:srgbClr val="DED8CD"/>
                      </a:solidFill>
                      <a:prstDash val="solid"/>
                    </a:lnR>
                    <a:lnB w="9525">
                      <a:solidFill>
                        <a:srgbClr val="DED8CD"/>
                      </a:solidFill>
                      <a:prstDash val="solid"/>
                    </a:lnB>
                    <a:solidFill>
                      <a:srgbClr val="F8F5EE"/>
                    </a:solidFill>
                  </a:tcPr>
                </a:tc>
              </a:tr>
            </a:tbl>
          </a:graphicData>
        </a:graphic>
      </p:graphicFrame>
      <p:sp>
        <p:nvSpPr>
          <p:cNvPr id="5" name="原生网页和Node.js24本地服务，无需安装npm依赖">
            <a:extLst xmlns:a="http://schemas.openxmlformats.org/drawingml/2006/main">
              <a:ext uri="{FF2B5EF4-FFF2-40B4-BE49-F238E27FC236}">
                <a16:creationId xmlns:a16="http://schemas.microsoft.com/office/drawing/2014/main" id="{1D28A00F-547F-4FC8-B178-32F42BC9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149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原生网页和 Node.js 24 本地服务，无需安装 npm 依赖</a:t>
            </a:r>
          </a:p>
        </p:txBody>
      </p:sp>
    </p:spTree>
    <p:extLst>
      <p:ext uri="{BB962C8B-B14F-4D97-AF65-F5344CB8AC3E}">
        <p14:creationId xmlns:p14="http://schemas.microsoft.com/office/powerpoint/2010/main" val="12250047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52CC4799-E16B-4F77-AFFE-63B9E85E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需求留档与沟通导出</a:t>
            </a:r>
          </a:p>
        </p:txBody>
      </p:sp>
      <p:sp>
        <p:nvSpPr>
          <p:cNvPr id="2" name="takeaway-6">
            <a:extLst xmlns:a="http://schemas.openxmlformats.org/drawingml/2006/main">
              <a:ext uri="{FF2B5EF4-FFF2-40B4-BE49-F238E27FC236}">
                <a16:creationId xmlns:a16="http://schemas.microsoft.com/office/drawing/2014/main" id="{4847DA0E-A8D8-4623-94DF-10815FE8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78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确认当前交付，同时留下尚未解决的事项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30537F38-A6C7-4E18-9D57-D0DEAA0A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14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06/08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0CF33-CC12-4E13-89A9-940FACFF63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2e4c740554ffa"/>
          <a:srcRect xmlns:a="http://schemas.openxmlformats.org/drawingml/2006/main" l="18000" t="29500" r="30500" b="13000"/>
          <a:stretch xmlns:a="http://schemas.openxmlformats.org/drawingml/2006/main"/>
        </p:blipFill>
        <p:spPr>
          <a:xfrm xmlns:a="http://schemas.openxmlformats.org/drawingml/2006/main">
            <a:off x="685800" y="1962150"/>
            <a:ext cx="6858000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规则演示界面，使用合成案例">
            <a:extLst xmlns:a="http://schemas.openxmlformats.org/drawingml/2006/main">
              <a:ext uri="{FF2B5EF4-FFF2-40B4-BE49-F238E27FC236}">
                <a16:creationId xmlns:a16="http://schemas.microsoft.com/office/drawing/2014/main" id="{6CE83A40-D07D-41CC-BE01-8127A49E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676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规则演示界面，使用合成案例</a:t>
            </a:r>
          </a:p>
        </p:txBody>
      </p:sp>
      <p:sp>
        <p:nvSpPr>
          <p:cNvPr id="6" name="持续的订单记录">
            <a:extLst xmlns:a="http://schemas.openxmlformats.org/drawingml/2006/main">
              <a:ext uri="{FF2B5EF4-FFF2-40B4-BE49-F238E27FC236}">
                <a16:creationId xmlns:a16="http://schemas.microsoft.com/office/drawing/2014/main" id="{FC8E5B24-D5AE-4138-9997-E5557C9D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7170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rPr>
              <a:t>持续的订单记录</a:t>
            </a:r>
          </a:p>
        </p:txBody>
      </p:sp>
      <p:sp>
        <p:nvSpPr>
          <p:cNvPr id="7" name="保留已确认的需求版本">
            <a:extLst xmlns:a="http://schemas.openxmlformats.org/drawingml/2006/main">
              <a:ext uri="{FF2B5EF4-FFF2-40B4-BE49-F238E27FC236}">
                <a16:creationId xmlns:a16="http://schemas.microsoft.com/office/drawing/2014/main" id="{4D5B0526-646B-4960-BF4F-A7D2EA27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43225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保留已确认的需求版本</a:t>
            </a:r>
          </a:p>
        </p:txBody>
      </p:sp>
      <p:sp>
        <p:nvSpPr>
          <p:cNvPr id="8" name="候选变化可回查对应原话">
            <a:extLst xmlns:a="http://schemas.openxmlformats.org/drawingml/2006/main">
              <a:ext uri="{FF2B5EF4-FFF2-40B4-BE49-F238E27FC236}">
                <a16:creationId xmlns:a16="http://schemas.microsoft.com/office/drawing/2014/main" id="{7FBF7370-4759-4962-9E59-B6B34CD8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1000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候选变化可回查对应原话</a:t>
            </a:r>
          </a:p>
        </p:txBody>
      </p:sp>
      <p:sp>
        <p:nvSpPr>
          <p:cNvPr id="9" name="人工决定后更新沟通清单">
            <a:extLst xmlns:a="http://schemas.openxmlformats.org/drawingml/2006/main">
              <a:ext uri="{FF2B5EF4-FFF2-40B4-BE49-F238E27FC236}">
                <a16:creationId xmlns:a16="http://schemas.microsoft.com/office/drawing/2014/main" id="{C6594027-BFC4-476F-9EF5-32ABEDF2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76775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人工决定后更新沟通清单</a:t>
            </a:r>
          </a:p>
        </p:txBody>
      </p:sp>
      <p:sp>
        <p:nvSpPr>
          <p:cNvPr id="10" name="价目表提供费用参考">
            <a:extLst xmlns:a="http://schemas.openxmlformats.org/drawingml/2006/main">
              <a:ext uri="{FF2B5EF4-FFF2-40B4-BE49-F238E27FC236}">
                <a16:creationId xmlns:a16="http://schemas.microsoft.com/office/drawing/2014/main" id="{1A68EC92-77DF-4770-B737-1698C93E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562600"/>
            <a:ext cx="354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价目表提供费用参考</a:t>
            </a:r>
          </a:p>
        </p:txBody>
      </p:sp>
    </p:spTree>
    <p:extLst>
      <p:ext uri="{BB962C8B-B14F-4D97-AF65-F5344CB8AC3E}">
        <p14:creationId xmlns:p14="http://schemas.microsoft.com/office/powerpoint/2010/main" val="6068589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7">
            <a:extLst xmlns:a="http://schemas.openxmlformats.org/drawingml/2006/main">
              <a:ext uri="{FF2B5EF4-FFF2-40B4-BE49-F238E27FC236}">
                <a16:creationId xmlns:a16="http://schemas.microsoft.com/office/drawing/2014/main" id="{29AC5650-0DBE-457C-88B1-A8714A97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验证现状与使用限制</a:t>
            </a:r>
          </a:p>
        </p:txBody>
      </p:sp>
      <p:sp>
        <p:nvSpPr>
          <p:cNvPr id="2" name="takeaway-7">
            <a:extLst xmlns:a="http://schemas.openxmlformats.org/drawingml/2006/main">
              <a:ext uri="{FF2B5EF4-FFF2-40B4-BE49-F238E27FC236}">
                <a16:creationId xmlns:a16="http://schemas.microsoft.com/office/drawing/2014/main" id="{48252467-2133-4949-8D48-B45A50ED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78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开发检查与真实效果验证分别记录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048A713B-0215-4A40-B69B-A979E5B5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14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07/08</a:t>
            </a:r>
          </a:p>
        </p:txBody>
      </p:sp>
      <p:sp>
        <p:nvSpPr>
          <p:cNvPr id="4" name="已执行开发检查">
            <a:extLst xmlns:a="http://schemas.openxmlformats.org/drawingml/2006/main">
              <a:ext uri="{FF2B5EF4-FFF2-40B4-BE49-F238E27FC236}">
                <a16:creationId xmlns:a16="http://schemas.microsoft.com/office/drawing/2014/main" id="{E056F3ED-56CE-4CA5-B473-E7E74931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rPr>
              <a:t>已执行开发检查</a:t>
            </a:r>
          </a:p>
        </p:txBody>
      </p:sp>
      <p:sp>
        <p:nvSpPr>
          <p:cNvPr id="5" name="50项自动检查通过，0项失败">
            <a:extLst xmlns:a="http://schemas.openxmlformats.org/drawingml/2006/main">
              <a:ext uri="{FF2B5EF4-FFF2-40B4-BE49-F238E27FC236}">
                <a16:creationId xmlns:a16="http://schemas.microsoft.com/office/drawing/2014/main" id="{A63BB686-E537-40BB-992B-019D94F5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50 项自动检查通过，0 项失败</a:t>
            </a:r>
          </a:p>
        </p:txBody>
      </p:sp>
      <p:sp>
        <p:nvSpPr>
          <p:cNvPr id="6" name="78项浏览器与离线检查通过">
            <a:extLst xmlns:a="http://schemas.openxmlformats.org/drawingml/2006/main">
              <a:ext uri="{FF2B5EF4-FFF2-40B4-BE49-F238E27FC236}">
                <a16:creationId xmlns:a16="http://schemas.microsoft.com/office/drawing/2014/main" id="{C5465365-B474-403D-8DE2-182CE8D9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78 项浏览器与离线检查通过</a:t>
            </a:r>
          </a:p>
        </p:txBody>
      </p:sp>
      <p:sp>
        <p:nvSpPr>
          <p:cNvPr id="7" name="模型接口为模拟响应检查">
            <a:extLst xmlns:a="http://schemas.openxmlformats.org/drawingml/2006/main">
              <a:ext uri="{FF2B5EF4-FFF2-40B4-BE49-F238E27FC236}">
                <a16:creationId xmlns:a16="http://schemas.microsoft.com/office/drawing/2014/main" id="{CE1F089C-2E1D-4F5E-8905-A2B6FE76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模型接口为模拟响应检查</a:t>
            </a:r>
          </a:p>
        </p:txBody>
      </p:sp>
      <p:sp>
        <p:nvSpPr>
          <p:cNvPr id="8" name="尚待验证">
            <a:extLst xmlns:a="http://schemas.openxmlformats.org/drawingml/2006/main">
              <a:ext uri="{FF2B5EF4-FFF2-40B4-BE49-F238E27FC236}">
                <a16:creationId xmlns:a16="http://schemas.microsoft.com/office/drawing/2014/main" id="{7BDFFBB7-9DA6-4FCC-BE5A-BCB7226A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33600"/>
            <a:ext cx="4838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rPr>
              <a:t>尚待验证</a:t>
            </a:r>
          </a:p>
        </p:txBody>
      </p:sp>
      <p:sp>
        <p:nvSpPr>
          <p:cNvPr id="9" name="真实模型连通与输出质量">
            <a:extLst xmlns:a="http://schemas.openxmlformats.org/drawingml/2006/main">
              <a:ext uri="{FF2B5EF4-FFF2-40B4-BE49-F238E27FC236}">
                <a16:creationId xmlns:a16="http://schemas.microsoft.com/office/drawing/2014/main" id="{FB6B65B8-1AAF-4809-87AF-E8B88BFF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67025"/>
            <a:ext cx="4838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真实模型连通与输出质量</a:t>
            </a:r>
          </a:p>
        </p:txBody>
      </p:sp>
      <p:sp>
        <p:nvSpPr>
          <p:cNvPr id="10" name="真实设计师需求与使用反馈">
            <a:extLst xmlns:a="http://schemas.openxmlformats.org/drawingml/2006/main">
              <a:ext uri="{FF2B5EF4-FFF2-40B4-BE49-F238E27FC236}">
                <a16:creationId xmlns:a16="http://schemas.microsoft.com/office/drawing/2014/main" id="{3A18CF6A-D11F-4026-8EA1-1A123D89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52850"/>
            <a:ext cx="4838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真实设计师需求与使用反馈</a:t>
            </a:r>
          </a:p>
        </p:txBody>
      </p:sp>
      <p:sp>
        <p:nvSpPr>
          <p:cNvPr id="11" name="相对日期和复杂指代的可靠性">
            <a:extLst xmlns:a="http://schemas.openxmlformats.org/drawingml/2006/main">
              <a:ext uri="{FF2B5EF4-FFF2-40B4-BE49-F238E27FC236}">
                <a16:creationId xmlns:a16="http://schemas.microsoft.com/office/drawing/2014/main" id="{8D15A485-EFAB-4D47-A36B-B4B4201B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38675"/>
            <a:ext cx="4838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相对日期和复杂指代的可靠性</a:t>
            </a:r>
          </a:p>
        </p:txBody>
      </p:sp>
      <p:sp>
        <p:nvSpPr>
          <p:cNvPr id="12" name="当前没有真实用户、商业收入或提效比例数据">
            <a:extLst xmlns:a="http://schemas.openxmlformats.org/drawingml/2006/main">
              <a:ext uri="{FF2B5EF4-FFF2-40B4-BE49-F238E27FC236}">
                <a16:creationId xmlns:a16="http://schemas.microsoft.com/office/drawing/2014/main" id="{7421244F-8893-4BB3-8972-3E605632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9775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当前没有真实用户、商业收入或提效比例数据</a:t>
            </a:r>
          </a:p>
        </p:txBody>
      </p:sp>
    </p:spTree>
    <p:extLst>
      <p:ext uri="{BB962C8B-B14F-4D97-AF65-F5344CB8AC3E}">
        <p14:creationId xmlns:p14="http://schemas.microsoft.com/office/powerpoint/2010/main" val="622492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8">
            <a:extLst xmlns:a="http://schemas.openxmlformats.org/drawingml/2006/main">
              <a:ext uri="{FF2B5EF4-FFF2-40B4-BE49-F238E27FC236}">
                <a16:creationId xmlns:a16="http://schemas.microsoft.com/office/drawing/2014/main" id="{93686A08-BB2B-4C15-A395-EA8DFEF6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后续验证与商业假设</a:t>
            </a:r>
          </a:p>
        </p:txBody>
      </p:sp>
      <p:sp>
        <p:nvSpPr>
          <p:cNvPr id="2" name="takeaway-8">
            <a:extLst xmlns:a="http://schemas.openxmlformats.org/drawingml/2006/main">
              <a:ext uri="{FF2B5EF4-FFF2-40B4-BE49-F238E27FC236}">
                <a16:creationId xmlns:a16="http://schemas.microsoft.com/office/drawing/2014/main" id="{74477AFA-7D0B-4124-AA69-841B8643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78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支持一个人经营设计业务时的沟通与交付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76AD77AE-E1DD-495D-8315-B21A154C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14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08/08</a:t>
            </a:r>
          </a:p>
        </p:txBody>
      </p:sp>
      <p:sp>
        <p:nvSpPr>
          <p:cNvPr id="4" name="先用真实订单验证，再决定扩展和收费">
            <a:extLst xmlns:a="http://schemas.openxmlformats.org/drawingml/2006/main">
              <a:ext uri="{FF2B5EF4-FFF2-40B4-BE49-F238E27FC236}">
                <a16:creationId xmlns:a16="http://schemas.microsoft.com/office/drawing/2014/main" id="{2FEB74A5-F68B-4A58-B42E-CB67F828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0275"/>
            <a:ext cx="6238875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7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先用真实订单验证，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37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再决定扩展和收费</a:t>
            </a:r>
          </a:p>
        </p:txBody>
      </p:sp>
      <p:sp>
        <p:nvSpPr>
          <p:cNvPr id="5" name="真实任务对比">
            <a:extLst xmlns:a="http://schemas.openxmlformats.org/drawingml/2006/main">
              <a:ext uri="{FF2B5EF4-FFF2-40B4-BE49-F238E27FC236}">
                <a16:creationId xmlns:a16="http://schemas.microsoft.com/office/drawing/2014/main" id="{7A36CCD7-38C6-424C-9536-E53E8AF5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193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rPr>
              <a:t>真实任务对比</a:t>
            </a:r>
          </a:p>
        </p:txBody>
      </p:sp>
      <p:sp>
        <p:nvSpPr>
          <p:cNvPr id="6" name="比较漏项、误报和总用时">
            <a:extLst xmlns:a="http://schemas.openxmlformats.org/drawingml/2006/main">
              <a:ext uri="{FF2B5EF4-FFF2-40B4-BE49-F238E27FC236}">
                <a16:creationId xmlns:a16="http://schemas.microsoft.com/office/drawing/2014/main" id="{647F14EA-347E-40FD-B9EE-B69D66A4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8130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比较漏项、误报和总用时</a:t>
            </a:r>
          </a:p>
        </p:txBody>
      </p:sp>
      <p:sp>
        <p:nvSpPr>
          <p:cNvPr id="7" name="设计师反馈">
            <a:extLst xmlns:a="http://schemas.openxmlformats.org/drawingml/2006/main">
              <a:ext uri="{FF2B5EF4-FFF2-40B4-BE49-F238E27FC236}">
                <a16:creationId xmlns:a16="http://schemas.microsoft.com/office/drawing/2014/main" id="{E0AA56FE-9004-4C79-BB97-B4A8EEC7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2427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74A2C"/>
                </a:solidFill>
                <a:latin typeface="Microsoft YaHei"/>
                <a:ea typeface="Microsoft YaHei"/>
                <a:cs typeface="Microsoft YaHei"/>
              </a:rPr>
              <a:t>设计师反馈</a:t>
            </a:r>
          </a:p>
        </p:txBody>
      </p:sp>
      <p:sp>
        <p:nvSpPr>
          <p:cNvPr id="8" name="记录检查修订和继续使用意愿">
            <a:extLst xmlns:a="http://schemas.openxmlformats.org/drawingml/2006/main">
              <a:ext uri="{FF2B5EF4-FFF2-40B4-BE49-F238E27FC236}">
                <a16:creationId xmlns:a16="http://schemas.microsoft.com/office/drawing/2014/main" id="{F17FBD11-7ABE-4545-9AF8-3281F828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8625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记录检查修订和继续使用意愿</a:t>
            </a:r>
          </a:p>
        </p:txBody>
      </p:sp>
      <p:sp>
        <p:nvSpPr>
          <p:cNvPr id="9" name="商业假设：持续接单者是否愿为需求记录工具付费">
            <a:extLst xmlns:a="http://schemas.openxmlformats.org/drawingml/2006/main">
              <a:ext uri="{FF2B5EF4-FFF2-40B4-BE49-F238E27FC236}">
                <a16:creationId xmlns:a16="http://schemas.microsoft.com/office/drawing/2014/main" id="{A5459804-6B66-4830-A354-1A3DF1B4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10620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2321"/>
                </a:solidFill>
                <a:latin typeface="Microsoft YaHei"/>
                <a:ea typeface="Microsoft YaHei"/>
                <a:cs typeface="Microsoft YaHei"/>
              </a:rPr>
              <a:t>商业假设：持续接单者是否愿为需求记录工具付费</a:t>
            </a:r>
          </a:p>
        </p:txBody>
      </p:sp>
      <p:sp>
        <p:nvSpPr>
          <p:cNvPr id="10" name="当前没有付费意愿与商业收益数据">
            <a:extLst xmlns:a="http://schemas.openxmlformats.org/drawingml/2006/main">
              <a:ext uri="{FF2B5EF4-FFF2-40B4-BE49-F238E27FC236}">
                <a16:creationId xmlns:a16="http://schemas.microsoft.com/office/drawing/2014/main" id="{F05E11B4-E1B5-4F97-B306-193F166C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962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25C"/>
                </a:solidFill>
                <a:latin typeface="Microsoft YaHei"/>
                <a:ea typeface="Microsoft YaHei"/>
                <a:cs typeface="Microsoft YaHei"/>
              </a:rPr>
              <a:t>当前没有付费意愿与商业收益数据</a:t>
            </a:r>
          </a:p>
        </p:txBody>
      </p:sp>
    </p:spTree>
    <p:extLst>
      <p:ext uri="{BB962C8B-B14F-4D97-AF65-F5344CB8AC3E}">
        <p14:creationId xmlns:p14="http://schemas.microsoft.com/office/powerpoint/2010/main" val="2037525231"/>
      </p:ext>
    </p:extLst>
  </p:cSld>
</p:sld>
</file>

<file path=ppt/theme/theme1.xml><?xml version="1.0" encoding="utf-8"?>
<a:theme xmlns:a="http://schemas.openxmlformats.org/drawingml/2006/main" name="ChatGPT">
  <a:themeElements>
    <a:clrScheme name="改稿有账">
      <a:dk1>
        <a:srgbClr val="171717"/>
      </a:dk1>
      <a:lt1>
        <a:srgbClr val="FFFFFF"/>
      </a:lt1>
      <a:dk2>
        <a:srgbClr val="242321"/>
      </a:dk2>
      <a:lt2>
        <a:srgbClr val="F8F5EE"/>
      </a:lt2>
      <a:accent1>
        <a:srgbClr val="C74A2C"/>
      </a:accent1>
      <a:accent2>
        <a:srgbClr val="596E5D"/>
      </a:accent2>
      <a:accent3>
        <a:srgbClr val="AF792C"/>
      </a:accent3>
      <a:accent4>
        <a:srgbClr val="A65546"/>
      </a:accent4>
      <a:accent5>
        <a:srgbClr val="6C655F"/>
      </a:accent5>
      <a:accent6>
        <a:srgbClr val="A38D70"/>
      </a:accent6>
      <a:hlink>
        <a:srgbClr val="C74A2C"/>
      </a:hlink>
      <a:folHlink>
        <a:srgbClr val="795448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改稿有账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2026-10-16T16:22:17.7330000Z</dcterms:created>
  <dcterms:modified xsi:type="dcterms:W3CDTF">2026-10-16T16:22:17.7330000Z</dcterms:modified>
</coreProperties>
</file>